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Afacad Flux Medium"/>
      <p:regular r:id="rId15"/>
      <p:bold r:id="rId16"/>
    </p:embeddedFont>
    <p:embeddedFont>
      <p:font typeface="Afacad Flux"/>
      <p:regular r:id="rId17"/>
      <p:bold r:id="rId18"/>
    </p:embeddedFont>
    <p:embeddedFont>
      <p:font typeface="Comfortaa"/>
      <p:regular r:id="rId19"/>
      <p:bold r:id="rId20"/>
    </p:embeddedFont>
    <p:embeddedFont>
      <p:font typeface="Afacad Flux SemiBo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bold.fntdata"/><Relationship Id="rId11" Type="http://schemas.openxmlformats.org/officeDocument/2006/relationships/slide" Target="slides/slide6.xml"/><Relationship Id="rId22" Type="http://schemas.openxmlformats.org/officeDocument/2006/relationships/font" Target="fonts/AfacadFluxSemiBold-bold.fntdata"/><Relationship Id="rId10" Type="http://schemas.openxmlformats.org/officeDocument/2006/relationships/slide" Target="slides/slide5.xml"/><Relationship Id="rId21" Type="http://schemas.openxmlformats.org/officeDocument/2006/relationships/font" Target="fonts/AfacadFluxSemiBo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facadFluxMedium-regular.fntdata"/><Relationship Id="rId14" Type="http://schemas.openxmlformats.org/officeDocument/2006/relationships/slide" Target="slides/slide9.xml"/><Relationship Id="rId17" Type="http://schemas.openxmlformats.org/officeDocument/2006/relationships/font" Target="fonts/AfacadFlux-regular.fntdata"/><Relationship Id="rId16" Type="http://schemas.openxmlformats.org/officeDocument/2006/relationships/font" Target="fonts/AfacadFluxMedium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regular.fntdata"/><Relationship Id="rId6" Type="http://schemas.openxmlformats.org/officeDocument/2006/relationships/slide" Target="slides/slide1.xml"/><Relationship Id="rId18" Type="http://schemas.openxmlformats.org/officeDocument/2006/relationships/font" Target="fonts/AfacadFlux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11" Type="http://schemas.openxmlformats.org/officeDocument/2006/relationships/image" Target="../media/image5.png"/><Relationship Id="rId10" Type="http://schemas.openxmlformats.org/officeDocument/2006/relationships/image" Target="../media/image2.png"/><Relationship Id="rId12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00575" y="1966912"/>
            <a:ext cx="679084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Yard Wars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300412"/>
            <a:ext cx="952500" cy="571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62262" y="3833812"/>
            <a:ext cx="6467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5803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Jardineros Game Studio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15803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Proyecto de Estructura y Arquitectura de Videojuegos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90525" y="2845444"/>
            <a:ext cx="57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Defensa </a:t>
            </a:r>
            <a:r>
              <a:rPr lang="en-US" sz="2400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estratégica</a:t>
            </a: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 del </a:t>
            </a:r>
            <a:r>
              <a:rPr lang="en-US" sz="2400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jardín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90525" y="3483619"/>
            <a:ext cx="5429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Yard Wars es un videojuego de </a:t>
            </a:r>
            <a:r>
              <a:rPr b="1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defensa de torres en 2D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donde el jugador protege un jardín sagrado de oleadas de criaturas infectadas.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90525" y="4740919"/>
            <a:ext cx="5429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El juego combina la profundidad estratégica de gestión de recursos con un encanto visual pintado a mano, inspirado en clásicos como </a:t>
            </a:r>
            <a:r>
              <a:rPr b="0" i="1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Plants vs. Zombies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y </a:t>
            </a:r>
            <a:r>
              <a:rPr b="0" i="1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Kingdom Rush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90525" y="833139"/>
            <a:ext cx="11801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¿Qué es Yard Wars?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390525" y="1566564"/>
            <a:ext cx="114109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2450" y="2551825"/>
            <a:ext cx="3468874" cy="346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5" y="2169169"/>
            <a:ext cx="36131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9375" y="2169169"/>
            <a:ext cx="36131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169169"/>
            <a:ext cx="36131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16000" y="247396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611927" y="3731269"/>
            <a:ext cx="117014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Defender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95325" y="4464694"/>
            <a:ext cx="3003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El objetivo principal es evitar que cualquier enemigo cruce la línea final del jardín y entre en la casa.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47396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485774" y="3731269"/>
            <a:ext cx="122015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Gestionar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594175" y="4464694"/>
            <a:ext cx="3003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Recolectar y administrar </a:t>
            </a:r>
            <a:r>
              <a:rPr lang="en-US" sz="1800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“Energía”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eficientemente para plantar defensores y activar habilidades especiales.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3701" y="247396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364622" y="3731269"/>
            <a:ext cx="12601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Sobrevivir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93025" y="4464694"/>
            <a:ext cx="300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Superar oleadas progresivas y derrotar </a:t>
            </a:r>
            <a:r>
              <a:rPr lang="en-US" sz="1800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jefes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con condiciones especiales y patrones únicos.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68400" y="26263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95826" y="262636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66101" y="26263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90525" y="833139"/>
            <a:ext cx="11801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Objetivos del Jugador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390525" y="1566564"/>
            <a:ext cx="114109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5" y="3245494"/>
            <a:ext cx="262443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9313" y="3245494"/>
            <a:ext cx="262443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102" y="3245494"/>
            <a:ext cx="262443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76891" y="3245494"/>
            <a:ext cx="262443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390525" y="4207519"/>
            <a:ext cx="11410950" cy="3810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540817" y="2731144"/>
            <a:ext cx="323850" cy="3238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469606" y="2731144"/>
            <a:ext cx="323850" cy="3238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398394" y="2731144"/>
            <a:ext cx="323850" cy="3238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0327183" y="2731144"/>
            <a:ext cx="323850" cy="3238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34940" y="3750319"/>
            <a:ext cx="233560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1. Recolectar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90550" y="4388494"/>
            <a:ext cx="222438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Obtener energía pasiva o mediante Girasoles Guardianes.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3463729" y="3750319"/>
            <a:ext cx="233560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2. Planificar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9338" y="4388494"/>
            <a:ext cx="22243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Seleccionar y colocar plantas estratégicamente en la cuadrícula.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392517" y="3750319"/>
            <a:ext cx="233560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3. Combatir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448127" y="4388494"/>
            <a:ext cx="222438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Las plantas atacan automáticamente a las oleadas de enemigos.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321306" y="3750319"/>
            <a:ext cx="233560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4. Progresar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376916" y="4388494"/>
            <a:ext cx="22243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Completar niveles, mejorar unidades y desbloquear nuevas zonas.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90525" y="833139"/>
            <a:ext cx="11801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El Loop del Juego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390525" y="1566564"/>
            <a:ext cx="114109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5" y="2583507"/>
            <a:ext cx="54673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83507"/>
            <a:ext cx="546735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95325" y="3193107"/>
            <a:ext cx="510063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Tecnología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38925" y="3193107"/>
            <a:ext cx="510063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Arte y Audio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325" y="323120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95325" y="3755082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Motor: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Unity 2021 LTS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95325" y="4240857"/>
            <a:ext cx="485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Lenguaje: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C# (Scripts y 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Lógica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95325" y="4726632"/>
            <a:ext cx="485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Control: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GitHub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8925" y="323120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6638925" y="3755082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Visual: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Photoshop, Krita, Aseprite (Estilo pintado a mano)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38925" y="4583757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Audio: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Audacity (Música adaptativa)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38925" y="5069532"/>
            <a:ext cx="485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Assets: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 Bas</a:t>
            </a:r>
            <a:r>
              <a:rPr lang="en-US" sz="1800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ado </a:t>
            </a: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de "Glitch The Game" y originales.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90525" y="833139"/>
            <a:ext cx="11801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Herramientas de Desarrollo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390525" y="1566564"/>
            <a:ext cx="114109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0075" y="2320900"/>
            <a:ext cx="5357349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866775" y="1850082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El Jardín (Grid 5x9):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Mapa estratégico donde el jugador coloca defensas en tiempo real.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66775" y="2774007"/>
            <a:ext cx="4953000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Sistema de Defensas: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66775" y="4907607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Enemigos: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Variedad de zombies con ataques a rango, cuerpo a cuerpo y tanques.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66775" y="5831532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Interfaz (HUD):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Visualización clara de energía disponible y progreso de la oleada.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343025" y="3164532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Generadores (Girasol)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343025" y="3745557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Ataque (Lanzahojas)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343025" y="4326582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Defensa (Cactus)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390525" y="545157"/>
            <a:ext cx="11801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Funcionamiento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90525" y="1278582"/>
            <a:ext cx="114109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186913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279305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492665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58505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1835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7646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34563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0075" y="2320900"/>
            <a:ext cx="5357359" cy="335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875" y="2064394"/>
            <a:ext cx="5429251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229475" y="1769119"/>
            <a:ext cx="4572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Lógica de Ataque: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Inicialmente, las plantas no detectaban correctamente a los enemigos dentro de su rango de ataque.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229475" y="3035944"/>
            <a:ext cx="4572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Errores de Animación: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Los Girasoles no mostraban la animación de generación de energía por problemas en el prefab.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7229475" y="4302769"/>
            <a:ext cx="4572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Alineación de Spawners: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Los enemigos aparecían desalineados en el eje Y, caminando fuera de la cuadrícula.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229475" y="5569594"/>
            <a:ext cx="4572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Sistema de Oleadas: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La barra de progreso y el contador no se actualizaban al finalizar las rondas.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390525" y="464194"/>
            <a:ext cx="11801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Dificultades en el Proceso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390525" y="1197619"/>
            <a:ext cx="114109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3225" y="178816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3225" y="30549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3225" y="432181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3225" y="5588644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2007840" y="2454919"/>
            <a:ext cx="86524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Reestructuración de Scripts: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Se reorganizó la arquitectura del proyecto (Carpetas Assets/Scripts, Prefabs) para facilitar la depuración y el flujo de lógica.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2007840" y="3378844"/>
            <a:ext cx="86524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Calibración de Spawners: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Ajuste manual de las coordenadas de generación para alinear perfectamente a los enemigos con las filas del jardín.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2007840" y="4302769"/>
            <a:ext cx="86524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Colisiones Invisibles: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Implementación de "paredes" invisibles al final del recorrido para detectar victorias o derrotas de forma precisa.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2007840" y="5226694"/>
            <a:ext cx="86524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Afacad Flux"/>
                <a:ea typeface="Afacad Flux"/>
                <a:cs typeface="Afacad Flux"/>
                <a:sym typeface="Afacad Flux"/>
              </a:rPr>
              <a:t>Refactorización de Detección:</a:t>
            </a:r>
            <a:r>
              <a:rPr b="0" i="0" lang="en-US" sz="1800" u="none" cap="none" strike="noStrike">
                <a:solidFill>
                  <a:srgbClr val="14532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Se reescribió el código de disparo para usar Raycasts o Triggers más eficientes en la detección de enemigos.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90525" y="833139"/>
            <a:ext cx="11801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4532D"/>
                </a:solidFill>
                <a:latin typeface="Comfortaa"/>
                <a:ea typeface="Comfortaa"/>
                <a:cs typeface="Comfortaa"/>
                <a:sym typeface="Comfortaa"/>
              </a:rPr>
              <a:t>Cómo Superamos los Retos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390525" y="1566564"/>
            <a:ext cx="114109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590" y="247396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590" y="33978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590" y="432181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590" y="5245744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2330529" y="1568648"/>
            <a:ext cx="753094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C55E"/>
                </a:solidFill>
                <a:latin typeface="Comfortaa"/>
                <a:ea typeface="Comfortaa"/>
                <a:cs typeface="Comfortaa"/>
                <a:sym typeface="Comfortaa"/>
              </a:rPr>
              <a:t>¡Hora de la Demo!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2509837" y="4178498"/>
            <a:ext cx="7172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5803D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A continuación mostraremos el juego en funcionamiento.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143500" y="5016698"/>
            <a:ext cx="1905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509837" y="5435798"/>
            <a:ext cx="71723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Afacad Flux"/>
                <a:ea typeface="Afacad Flux"/>
                <a:cs typeface="Afacad Flux"/>
                <a:sym typeface="Afacad Flux"/>
              </a:rPr>
              <a:t>Jardineros Game Studio</a:t>
            </a:r>
            <a:endParaRPr/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687" y="2835473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